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" charset="1" panose="020B0604020202020204"/>
      <p:regular r:id="rId16"/>
    </p:embeddedFont>
    <p:embeddedFont>
      <p:font typeface="Fira Sans" charset="1" panose="020B050305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5" id="5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  <p:txBody>
            <a:bodyPr/>
            <a:p/>
          </p:txBody>
        </p:sp>
      </p:grpSp>
      <p:sp>
        <p:nvSpPr>
          <p:cNvPr name="TextBox 6" id="6"/>
          <p:cNvSpPr txBox="true"/>
          <p:nvPr/>
        </p:nvSpPr>
        <p:spPr>
          <a:xfrm rot="0">
            <a:off x="980627" y="1956892"/>
            <a:ext cx="9913496" cy="204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LEGALEASE AI – INTELLIGENT LEGAL DECISION SUPPORT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0627" y="4093102"/>
            <a:ext cx="9913496" cy="970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An AI-Based Assistant for Legal Information, Case Analysis and Decision Support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0627" y="5006149"/>
            <a:ext cx="9913496" cy="1741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>
                <a:solidFill>
                  <a:srgbClr val="192742"/>
                </a:solidFill>
              </a:rPr>
              <a:t>krishnakumar.r</a:t>
            </a:r>
          </a:p>
          <a:p>
            <a:r>
              <a:rPr>
                <a:solidFill>
                  <a:srgbClr val="192742"/>
                </a:solidFill>
              </a:rPr>
              <a:t>Vinish raj.r</a:t>
            </a:r>
          </a:p>
          <a:p>
            <a:r>
              <a:rPr>
                <a:solidFill>
                  <a:srgbClr val="192742"/>
                </a:solidFill>
              </a:rPr>
              <a:t>COMPUTER SCIENCE AND ENGINEERING</a:t>
            </a:r>
          </a:p>
          <a:p>
            <a:r>
              <a:rPr>
                <a:solidFill>
                  <a:srgbClr val="192742"/>
                </a:solidFill>
              </a:rPr>
              <a:t>CS23533 - FOUNDATIONS OF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800710" y="554565"/>
            <a:ext cx="16700430" cy="68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PROBLEM STATEMENT &amp; OBJECTIVES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0710" y="2300307"/>
            <a:ext cx="6176867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0710" y="3071879"/>
            <a:ext cx="6176867" cy="4848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Understanding legal documents is time-consuming.</a:t>
            </a:r>
          </a:p>
          <a:p>
            <a:r>
              <a:rPr sz="1600">
                <a:solidFill>
                  <a:srgbClr val="192742"/>
                </a:solidFill>
              </a:rPr>
              <a:t>Users may struggle to identify relevant laws and case details.</a:t>
            </a:r>
          </a:p>
          <a:p>
            <a:r>
              <a:rPr sz="1600">
                <a:solidFill>
                  <a:srgbClr val="192742"/>
                </a:solidFill>
              </a:rPr>
              <a:t>Manual keyword searches can miss important context.</a:t>
            </a:r>
          </a:p>
          <a:p>
            <a:r>
              <a:rPr sz="1600">
                <a:solidFill>
                  <a:srgbClr val="192742"/>
                </a:solidFill>
              </a:rPr>
              <a:t>Checking legal eligibility and required documents is difficult.</a:t>
            </a:r>
          </a:p>
          <a:p>
            <a:r>
              <a:rPr sz="1600">
                <a:solidFill>
                  <a:srgbClr val="192742"/>
                </a:solidFill>
              </a:rPr>
              <a:t>Finding relevant case precedents takes time.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63891" y="2300307"/>
            <a:ext cx="6634420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Objectives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63891" y="3071879"/>
            <a:ext cx="6634420" cy="501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Accept legal questions and document text.</a:t>
            </a:r>
          </a:p>
          <a:p>
            <a:r>
              <a:rPr sz="1600">
                <a:solidFill>
                  <a:srgbClr val="192742"/>
                </a:solidFill>
              </a:rPr>
              <a:t>Extract key facts from legal documents.</a:t>
            </a:r>
          </a:p>
          <a:p>
            <a:r>
              <a:rPr sz="1600">
                <a:solidFill>
                  <a:srgbClr val="192742"/>
                </a:solidFill>
              </a:rPr>
              <a:t>Match queries with relevant legal information.</a:t>
            </a:r>
          </a:p>
          <a:p>
            <a:r>
              <a:rPr sz="1600">
                <a:solidFill>
                  <a:srgbClr val="192742"/>
                </a:solidFill>
              </a:rPr>
              <a:t>Classify legal issues using Machine Learning.</a:t>
            </a:r>
          </a:p>
          <a:p>
            <a:r>
              <a:rPr sz="1600">
                <a:solidFill>
                  <a:srgbClr val="192742"/>
                </a:solidFill>
              </a:rPr>
              <a:t>Check basic conditions using rule-based logic.</a:t>
            </a:r>
          </a:p>
          <a:p>
            <a:r>
              <a:rPr sz="1600">
                <a:solidFill>
                  <a:srgbClr val="192742"/>
                </a:solidFill>
              </a:rPr>
              <a:t>Provide explainable recommendations for human review.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641468" y="1984238"/>
            <a:ext cx="3660372" cy="6326562"/>
            <a:chOff x="0" y="0"/>
            <a:chExt cx="4880496" cy="84354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80483" cy="8435467"/>
            </a:xfrm>
            <a:custGeom>
              <a:avLst/>
              <a:gdLst/>
              <a:ahLst/>
              <a:cxnLst/>
              <a:rect r="r" b="b" t="t" l="l"/>
              <a:pathLst>
                <a:path h="8435467" w="4880483">
                  <a:moveTo>
                    <a:pt x="0" y="0"/>
                  </a:moveTo>
                  <a:lnTo>
                    <a:pt x="4880483" y="0"/>
                  </a:lnTo>
                  <a:lnTo>
                    <a:pt x="4880483" y="8435467"/>
                  </a:lnTo>
                  <a:lnTo>
                    <a:pt x="0" y="8435467"/>
                  </a:lnTo>
                  <a:close/>
                </a:path>
              </a:pathLst>
            </a:custGeom>
            <a:solidFill>
              <a:srgbClr val="F5F8FC"/>
            </a:solid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984635" y="2327405"/>
            <a:ext cx="2974048" cy="5640229"/>
            <a:chOff x="0" y="0"/>
            <a:chExt cx="3965397" cy="7520305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3965448" cy="7520305"/>
            </a:xfrm>
            <a:custGeom>
              <a:avLst/>
              <a:gdLst/>
              <a:ahLst/>
              <a:cxnLst/>
              <a:rect r="r" b="b" t="t" l="l"/>
              <a:pathLst>
                <a:path h="7520305" w="3965448">
                  <a:moveTo>
                    <a:pt x="0" y="0"/>
                  </a:moveTo>
                  <a:lnTo>
                    <a:pt x="3965448" y="0"/>
                  </a:lnTo>
                  <a:lnTo>
                    <a:pt x="3965448" y="7520305"/>
                  </a:lnTo>
                  <a:lnTo>
                    <a:pt x="0" y="7520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7" r="1" b="-67"/>
              </a:stretch>
            </a:blipFill>
          </p:spPr>
          <p:txBody>
            <a:bodyPr/>
            <a:p/>
          </p:txBody>
        </p:sp>
      </p:grpSp>
      <p:sp>
        <p:nvSpPr>
          <p:cNvPr name="TextBox 13" id="13"/>
          <p:cNvSpPr txBox="true"/>
          <p:nvPr/>
        </p:nvSpPr>
        <p:spPr>
          <a:xfrm rot="0">
            <a:off x="800710" y="8482432"/>
            <a:ext cx="16700430" cy="123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Decision support, not legal advice.</a:t>
            </a:r>
          </a:p>
          <a:p>
            <a:r>
              <a:rPr sz="1600">
                <a:solidFill>
                  <a:srgbClr val="192742"/>
                </a:solidFill>
              </a:rPr>
              <a:t>Qualified legal professional review is required.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876967" y="821474"/>
            <a:ext cx="16547916" cy="68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SYSTEM ARCHITECTURE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888256" y="2180996"/>
            <a:ext cx="2011299" cy="114386"/>
            <a:chOff x="0" y="0"/>
            <a:chExt cx="2681732" cy="1525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81732" cy="152527"/>
            </a:xfrm>
            <a:custGeom>
              <a:avLst/>
              <a:gdLst/>
              <a:ahLst/>
              <a:cxnLst/>
              <a:rect r="r" b="b" t="t" l="l"/>
              <a:pathLst>
                <a:path h="152527" w="2681732">
                  <a:moveTo>
                    <a:pt x="0" y="0"/>
                  </a:moveTo>
                  <a:lnTo>
                    <a:pt x="2681732" y="0"/>
                  </a:lnTo>
                  <a:lnTo>
                    <a:pt x="2681732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4785017" y="2104882"/>
            <a:ext cx="228771" cy="266910"/>
            <a:chOff x="0" y="0"/>
            <a:chExt cx="305029" cy="3558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848363" y="1733121"/>
            <a:ext cx="1010412" cy="1010441"/>
            <a:chOff x="0" y="0"/>
            <a:chExt cx="1347216" cy="13472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9016" y="1923764"/>
            <a:ext cx="629126" cy="629145"/>
            <a:chOff x="0" y="0"/>
            <a:chExt cx="838835" cy="83886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838835" cy="838835"/>
            </a:xfrm>
            <a:custGeom>
              <a:avLst/>
              <a:gdLst/>
              <a:ahLst/>
              <a:cxnLst/>
              <a:rect r="r" b="b" t="t" l="l"/>
              <a:pathLst>
                <a:path h="838835" w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-3"/>
              </a:stretch>
            </a:blipFill>
          </p:spPr>
          <p:txBody>
            <a:bodyPr/>
            <a:p/>
          </p:txBody>
        </p:sp>
      </p:grpSp>
      <p:sp>
        <p:nvSpPr>
          <p:cNvPr name="TextBox 13" id="13"/>
          <p:cNvSpPr txBox="true"/>
          <p:nvPr/>
        </p:nvSpPr>
        <p:spPr>
          <a:xfrm rot="0">
            <a:off x="876967" y="2867482"/>
            <a:ext cx="4022588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LEGAL QUESTION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967" y="3501276"/>
            <a:ext cx="4022588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User query and facts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128327" y="2180996"/>
            <a:ext cx="3908060" cy="114386"/>
            <a:chOff x="0" y="0"/>
            <a:chExt cx="5210746" cy="15251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10683" cy="152527"/>
            </a:xfrm>
            <a:custGeom>
              <a:avLst/>
              <a:gdLst/>
              <a:ahLst/>
              <a:cxnLst/>
              <a:rect r="r" b="b" t="t" l="l"/>
              <a:pathLst>
                <a:path h="152527" w="5210683">
                  <a:moveTo>
                    <a:pt x="0" y="0"/>
                  </a:moveTo>
                  <a:lnTo>
                    <a:pt x="5210683" y="0"/>
                  </a:lnTo>
                  <a:lnTo>
                    <a:pt x="5210683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22001" y="2104882"/>
            <a:ext cx="228771" cy="266910"/>
            <a:chOff x="0" y="0"/>
            <a:chExt cx="305029" cy="3558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19" id="19"/>
          <p:cNvGrpSpPr/>
          <p:nvPr/>
        </p:nvGrpSpPr>
        <p:grpSpPr>
          <a:xfrm rot="0">
            <a:off x="5099733" y="1733121"/>
            <a:ext cx="1010412" cy="1010441"/>
            <a:chOff x="0" y="0"/>
            <a:chExt cx="1347216" cy="134725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1" id="21"/>
          <p:cNvGrpSpPr/>
          <p:nvPr/>
        </p:nvGrpSpPr>
        <p:grpSpPr>
          <a:xfrm rot="0">
            <a:off x="5290375" y="1923764"/>
            <a:ext cx="629126" cy="629145"/>
            <a:chOff x="0" y="0"/>
            <a:chExt cx="838835" cy="83886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838835" cy="838835"/>
            </a:xfrm>
            <a:custGeom>
              <a:avLst/>
              <a:gdLst/>
              <a:ahLst/>
              <a:cxnLst/>
              <a:rect r="r" b="b" t="t" l="l"/>
              <a:pathLst>
                <a:path h="838835" w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-3"/>
              </a:stretch>
            </a:blip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5128327" y="2867482"/>
            <a:ext cx="3908203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DOCUMENT UPLOAD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28327" y="3501276"/>
            <a:ext cx="3908203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PDF/DOCX TEXT EXTRACTION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265310" y="2180996"/>
            <a:ext cx="3965248" cy="114386"/>
            <a:chOff x="0" y="0"/>
            <a:chExt cx="5286997" cy="15251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87010" cy="152527"/>
            </a:xfrm>
            <a:custGeom>
              <a:avLst/>
              <a:gdLst/>
              <a:ahLst/>
              <a:cxnLst/>
              <a:rect r="r" b="b" t="t" l="l"/>
              <a:pathLst>
                <a:path h="152527" w="5287010">
                  <a:moveTo>
                    <a:pt x="0" y="0"/>
                  </a:moveTo>
                  <a:lnTo>
                    <a:pt x="5287010" y="0"/>
                  </a:lnTo>
                  <a:lnTo>
                    <a:pt x="5287010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116173" y="2104882"/>
            <a:ext cx="228771" cy="266910"/>
            <a:chOff x="0" y="0"/>
            <a:chExt cx="305029" cy="35587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236707" y="1733121"/>
            <a:ext cx="1010412" cy="1010441"/>
            <a:chOff x="0" y="0"/>
            <a:chExt cx="1347216" cy="134725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9427359" y="1923764"/>
            <a:ext cx="629126" cy="629145"/>
            <a:chOff x="0" y="0"/>
            <a:chExt cx="838835" cy="83886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838835" cy="838835"/>
            </a:xfrm>
            <a:custGeom>
              <a:avLst/>
              <a:gdLst/>
              <a:ahLst/>
              <a:cxnLst/>
              <a:rect r="r" b="b" t="t" l="l"/>
              <a:pathLst>
                <a:path h="838835" w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1" b="-3"/>
              </a:stretch>
            </a:blipFill>
          </p:spPr>
          <p:txBody>
            <a:bodyPr/>
            <a:p/>
          </p:txBody>
        </p:sp>
      </p:grpSp>
      <p:sp>
        <p:nvSpPr>
          <p:cNvPr name="TextBox 33" id="33"/>
          <p:cNvSpPr txBox="true"/>
          <p:nvPr/>
        </p:nvSpPr>
        <p:spPr>
          <a:xfrm rot="0">
            <a:off x="9265310" y="2867482"/>
            <a:ext cx="3965400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TEXT PREPROCESSING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265310" y="3501276"/>
            <a:ext cx="3965400" cy="83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KEY TERMS AND FACTS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459482" y="2180996"/>
            <a:ext cx="3965248" cy="114386"/>
            <a:chOff x="0" y="0"/>
            <a:chExt cx="5286997" cy="15251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87010" cy="152527"/>
            </a:xfrm>
            <a:custGeom>
              <a:avLst/>
              <a:gdLst/>
              <a:ahLst/>
              <a:cxnLst/>
              <a:rect r="r" b="b" t="t" l="l"/>
              <a:pathLst>
                <a:path h="152527" w="5287010">
                  <a:moveTo>
                    <a:pt x="0" y="0"/>
                  </a:moveTo>
                  <a:lnTo>
                    <a:pt x="5287010" y="0"/>
                  </a:lnTo>
                  <a:lnTo>
                    <a:pt x="5287010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17310344" y="2104882"/>
            <a:ext cx="228771" cy="266910"/>
            <a:chOff x="0" y="0"/>
            <a:chExt cx="305029" cy="35587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430879" y="1733121"/>
            <a:ext cx="1010412" cy="1010441"/>
            <a:chOff x="0" y="0"/>
            <a:chExt cx="1347216" cy="134725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621531" y="1923764"/>
            <a:ext cx="629126" cy="629145"/>
            <a:chOff x="0" y="0"/>
            <a:chExt cx="838835" cy="838860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838835" cy="838835"/>
            </a:xfrm>
            <a:custGeom>
              <a:avLst/>
              <a:gdLst/>
              <a:ahLst/>
              <a:cxnLst/>
              <a:rect r="r" b="b" t="t" l="l"/>
              <a:pathLst>
                <a:path h="838835" w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1" b="-3"/>
              </a:stretch>
            </a:blipFill>
          </p:spPr>
          <p:txBody>
            <a:bodyPr/>
            <a:p/>
          </p:txBody>
        </p:sp>
      </p:grpSp>
      <p:sp>
        <p:nvSpPr>
          <p:cNvPr name="TextBox 43" id="43"/>
          <p:cNvSpPr txBox="true"/>
          <p:nvPr/>
        </p:nvSpPr>
        <p:spPr>
          <a:xfrm rot="0">
            <a:off x="13459482" y="2867482"/>
            <a:ext cx="3965400" cy="880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NLP + SIMILARITY MATCHING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459482" y="3922490"/>
            <a:ext cx="3965400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LEGAL ISSUE CLASSIFICATION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76967" y="5010645"/>
            <a:ext cx="4022446" cy="114386"/>
            <a:chOff x="0" y="0"/>
            <a:chExt cx="5363261" cy="15251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63210" cy="152527"/>
            </a:xfrm>
            <a:custGeom>
              <a:avLst/>
              <a:gdLst/>
              <a:ahLst/>
              <a:cxnLst/>
              <a:rect r="r" b="b" t="t" l="l"/>
              <a:pathLst>
                <a:path h="152527" w="5363210">
                  <a:moveTo>
                    <a:pt x="0" y="0"/>
                  </a:moveTo>
                  <a:lnTo>
                    <a:pt x="5363210" y="0"/>
                  </a:lnTo>
                  <a:lnTo>
                    <a:pt x="5363210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47" id="47"/>
          <p:cNvGrpSpPr/>
          <p:nvPr/>
        </p:nvGrpSpPr>
        <p:grpSpPr>
          <a:xfrm rot="0">
            <a:off x="4785017" y="4934531"/>
            <a:ext cx="228771" cy="266910"/>
            <a:chOff x="0" y="0"/>
            <a:chExt cx="305029" cy="35587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49" id="49"/>
          <p:cNvGrpSpPr/>
          <p:nvPr/>
        </p:nvGrpSpPr>
        <p:grpSpPr>
          <a:xfrm rot="0">
            <a:off x="848363" y="4562770"/>
            <a:ext cx="1010412" cy="1010441"/>
            <a:chOff x="0" y="0"/>
            <a:chExt cx="1347216" cy="134725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39016" y="4753413"/>
            <a:ext cx="629126" cy="629145"/>
            <a:chOff x="0" y="0"/>
            <a:chExt cx="838835" cy="838860"/>
          </a:xfrm>
        </p:grpSpPr>
        <p:sp>
          <p:nvSpPr>
            <p:cNvPr name="Freeform 52" id="52" descr="preencoded.png"/>
            <p:cNvSpPr/>
            <p:nvPr/>
          </p:nvSpPr>
          <p:spPr>
            <a:xfrm flipH="false" flipV="false" rot="0">
              <a:off x="0" y="0"/>
              <a:ext cx="838835" cy="838835"/>
            </a:xfrm>
            <a:custGeom>
              <a:avLst/>
              <a:gdLst/>
              <a:ahLst/>
              <a:cxnLst/>
              <a:rect r="r" b="b" t="t" l="l"/>
              <a:pathLst>
                <a:path h="838835" w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-1" b="-3"/>
              </a:stretch>
            </a:blipFill>
          </p:spPr>
          <p:txBody>
            <a:bodyPr/>
            <a:p/>
          </p:txBody>
        </p:sp>
      </p:grpSp>
      <p:sp>
        <p:nvSpPr>
          <p:cNvPr name="TextBox 53" id="53"/>
          <p:cNvSpPr txBox="true"/>
          <p:nvPr/>
        </p:nvSpPr>
        <p:spPr>
          <a:xfrm rot="0">
            <a:off x="876967" y="5697122"/>
            <a:ext cx="4022588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RULE CHECKING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76967" y="6330925"/>
            <a:ext cx="4022588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ELIGIBILITY / CONDITION CHECK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5128327" y="5010645"/>
            <a:ext cx="3908060" cy="114386"/>
            <a:chOff x="0" y="0"/>
            <a:chExt cx="5210746" cy="15251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210683" cy="152527"/>
            </a:xfrm>
            <a:custGeom>
              <a:avLst/>
              <a:gdLst/>
              <a:ahLst/>
              <a:cxnLst/>
              <a:rect r="r" b="b" t="t" l="l"/>
              <a:pathLst>
                <a:path h="152527" w="5210683">
                  <a:moveTo>
                    <a:pt x="0" y="0"/>
                  </a:moveTo>
                  <a:lnTo>
                    <a:pt x="5210683" y="0"/>
                  </a:lnTo>
                  <a:lnTo>
                    <a:pt x="5210683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57" id="57"/>
          <p:cNvGrpSpPr/>
          <p:nvPr/>
        </p:nvGrpSpPr>
        <p:grpSpPr>
          <a:xfrm rot="0">
            <a:off x="8922001" y="4934531"/>
            <a:ext cx="228771" cy="266910"/>
            <a:chOff x="0" y="0"/>
            <a:chExt cx="305029" cy="35587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59" id="59"/>
          <p:cNvGrpSpPr/>
          <p:nvPr/>
        </p:nvGrpSpPr>
        <p:grpSpPr>
          <a:xfrm rot="0">
            <a:off x="5099733" y="4562770"/>
            <a:ext cx="1010412" cy="1010441"/>
            <a:chOff x="0" y="0"/>
            <a:chExt cx="1347216" cy="134725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61" id="61"/>
          <p:cNvGrpSpPr/>
          <p:nvPr/>
        </p:nvGrpSpPr>
        <p:grpSpPr>
          <a:xfrm rot="0">
            <a:off x="5290375" y="4753413"/>
            <a:ext cx="629126" cy="629145"/>
            <a:chOff x="0" y="0"/>
            <a:chExt cx="838835" cy="838860"/>
          </a:xfrm>
        </p:grpSpPr>
        <p:sp>
          <p:nvSpPr>
            <p:cNvPr name="Freeform 62" id="62" descr="preencoded.png"/>
            <p:cNvSpPr/>
            <p:nvPr/>
          </p:nvSpPr>
          <p:spPr>
            <a:xfrm flipH="false" flipV="false" rot="0">
              <a:off x="0" y="0"/>
              <a:ext cx="838835" cy="838835"/>
            </a:xfrm>
            <a:custGeom>
              <a:avLst/>
              <a:gdLst/>
              <a:ahLst/>
              <a:cxnLst/>
              <a:rect r="r" b="b" t="t" l="l"/>
              <a:pathLst>
                <a:path h="838835" w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-1" b="-3"/>
              </a:stretch>
            </a:blipFill>
          </p:spPr>
          <p:txBody>
            <a:bodyPr/>
            <a:p/>
          </p:txBody>
        </p:sp>
      </p:grpSp>
      <p:sp>
        <p:nvSpPr>
          <p:cNvPr name="TextBox 63" id="63"/>
          <p:cNvSpPr txBox="true"/>
          <p:nvPr/>
        </p:nvSpPr>
        <p:spPr>
          <a:xfrm rot="0">
            <a:off x="5128327" y="5697122"/>
            <a:ext cx="3908203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CASE LAW RETRIEVAL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5128327" y="6330925"/>
            <a:ext cx="3908203" cy="83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FORWARD-CHAINING RULE ENGINE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9265310" y="5010645"/>
            <a:ext cx="4079634" cy="114386"/>
            <a:chOff x="0" y="0"/>
            <a:chExt cx="5439512" cy="15251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439537" cy="152527"/>
            </a:xfrm>
            <a:custGeom>
              <a:avLst/>
              <a:gdLst/>
              <a:ahLst/>
              <a:cxnLst/>
              <a:rect r="r" b="b" t="t" l="l"/>
              <a:pathLst>
                <a:path h="152527" w="5439537">
                  <a:moveTo>
                    <a:pt x="0" y="0"/>
                  </a:moveTo>
                  <a:lnTo>
                    <a:pt x="5439537" y="0"/>
                  </a:lnTo>
                  <a:lnTo>
                    <a:pt x="5439537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67" id="67"/>
          <p:cNvGrpSpPr/>
          <p:nvPr/>
        </p:nvGrpSpPr>
        <p:grpSpPr>
          <a:xfrm rot="0">
            <a:off x="9236707" y="4562770"/>
            <a:ext cx="1010412" cy="1010441"/>
            <a:chOff x="0" y="0"/>
            <a:chExt cx="1347216" cy="134725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69" id="69"/>
          <p:cNvGrpSpPr/>
          <p:nvPr/>
        </p:nvGrpSpPr>
        <p:grpSpPr>
          <a:xfrm rot="0">
            <a:off x="9427359" y="4753413"/>
            <a:ext cx="629126" cy="629145"/>
            <a:chOff x="0" y="0"/>
            <a:chExt cx="838835" cy="838860"/>
          </a:xfrm>
        </p:grpSpPr>
        <p:sp>
          <p:nvSpPr>
            <p:cNvPr name="Freeform 70" id="70" descr="preencoded.png"/>
            <p:cNvSpPr/>
            <p:nvPr/>
          </p:nvSpPr>
          <p:spPr>
            <a:xfrm flipH="false" flipV="false" rot="0">
              <a:off x="0" y="0"/>
              <a:ext cx="838835" cy="838835"/>
            </a:xfrm>
            <a:custGeom>
              <a:avLst/>
              <a:gdLst/>
              <a:ahLst/>
              <a:cxnLst/>
              <a:rect r="r" b="b" t="t" l="l"/>
              <a:pathLst>
                <a:path h="838835" w="838835">
                  <a:moveTo>
                    <a:pt x="0" y="0"/>
                  </a:moveTo>
                  <a:lnTo>
                    <a:pt x="838835" y="0"/>
                  </a:lnTo>
                  <a:lnTo>
                    <a:pt x="838835" y="838835"/>
                  </a:lnTo>
                  <a:lnTo>
                    <a:pt x="0" y="8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" t="0" r="-1" b="-3"/>
              </a:stretch>
            </a:blipFill>
          </p:spPr>
          <p:txBody>
            <a:bodyPr/>
            <a:p/>
          </p:txBody>
        </p:sp>
      </p:grpSp>
      <p:sp>
        <p:nvSpPr>
          <p:cNvPr name="TextBox 71" id="71"/>
          <p:cNvSpPr txBox="true"/>
          <p:nvPr/>
        </p:nvSpPr>
        <p:spPr>
          <a:xfrm rot="0">
            <a:off x="9265310" y="5697122"/>
            <a:ext cx="8159572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LEGAL INFORMATION SUMMARY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265310" y="6330925"/>
            <a:ext cx="8159572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RESULT DASHBOARD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876967" y="9143000"/>
            <a:ext cx="17424883" cy="50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Each AI component supports a specific step in the legal decision-support workflow.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610057" y="554565"/>
            <a:ext cx="13802639" cy="68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AI TECHNIQUES USED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10057" y="1494806"/>
            <a:ext cx="786403" cy="786432"/>
            <a:chOff x="0" y="0"/>
            <a:chExt cx="1048537" cy="1048576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4" b="-6"/>
              </a:stretch>
            </a:blipFill>
          </p:spPr>
          <p:txBody>
            <a:bodyPr/>
            <a:p/>
          </p:txBody>
        </p:sp>
      </p:grpSp>
      <p:sp>
        <p:nvSpPr>
          <p:cNvPr name="TextBox 7" id="7"/>
          <p:cNvSpPr txBox="true"/>
          <p:nvPr/>
        </p:nvSpPr>
        <p:spPr>
          <a:xfrm rot="0">
            <a:off x="610057" y="2426160"/>
            <a:ext cx="4486389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NLP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0057" y="3059954"/>
            <a:ext cx="4486389" cy="83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Extract important terms from legal text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325227" y="1494806"/>
            <a:ext cx="786403" cy="786432"/>
            <a:chOff x="0" y="0"/>
            <a:chExt cx="1048537" cy="1048576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4" b="-6"/>
              </a:stretch>
            </a:blip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5325227" y="2426160"/>
            <a:ext cx="4372156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Text Similarity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25227" y="3059954"/>
            <a:ext cx="4372156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Match queries with relevant documents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6155" y="1494806"/>
            <a:ext cx="786403" cy="786432"/>
            <a:chOff x="0" y="0"/>
            <a:chExt cx="1048537" cy="1048576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4" b="-6"/>
              </a:stretch>
            </a:blipFill>
          </p:spPr>
          <p:txBody>
            <a:bodyPr/>
            <a:p/>
          </p:txBody>
        </p:sp>
      </p:grpSp>
      <p:sp>
        <p:nvSpPr>
          <p:cNvPr name="TextBox 15" id="15"/>
          <p:cNvSpPr txBox="true"/>
          <p:nvPr/>
        </p:nvSpPr>
        <p:spPr>
          <a:xfrm rot="0">
            <a:off x="9926155" y="2426160"/>
            <a:ext cx="4486542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SVM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6155" y="3059954"/>
            <a:ext cx="4486542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Classify the type of legal issue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10057" y="4121144"/>
            <a:ext cx="786403" cy="786432"/>
            <a:chOff x="0" y="0"/>
            <a:chExt cx="1048537" cy="1048576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4" b="-6"/>
              </a:stretch>
            </a:blipFill>
          </p:spPr>
          <p:txBody>
            <a:bodyPr/>
            <a:p/>
          </p:txBody>
        </p:sp>
      </p:grpSp>
      <p:sp>
        <p:nvSpPr>
          <p:cNvPr name="TextBox 19" id="19"/>
          <p:cNvSpPr txBox="true"/>
          <p:nvPr/>
        </p:nvSpPr>
        <p:spPr>
          <a:xfrm rot="0">
            <a:off x="610057" y="5052498"/>
            <a:ext cx="4486389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Case Retrieval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0057" y="5686292"/>
            <a:ext cx="4486389" cy="83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Find related cases and legal sources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325227" y="4121144"/>
            <a:ext cx="786403" cy="786432"/>
            <a:chOff x="0" y="0"/>
            <a:chExt cx="1048537" cy="1048576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-4" b="-6"/>
              </a:stretch>
            </a:blip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5325227" y="5052498"/>
            <a:ext cx="4372156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Rule Engine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25227" y="5686292"/>
            <a:ext cx="4372156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Check predefined legal conditions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926155" y="4121144"/>
            <a:ext cx="786403" cy="786432"/>
            <a:chOff x="0" y="0"/>
            <a:chExt cx="1048537" cy="1048576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-4" b="-6"/>
              </a:stretch>
            </a:blipFill>
          </p:spPr>
          <p:txBody>
            <a:bodyPr/>
            <a:p/>
          </p:txBody>
        </p:sp>
      </p:grpSp>
      <p:sp>
        <p:nvSpPr>
          <p:cNvPr name="TextBox 27" id="27"/>
          <p:cNvSpPr txBox="true"/>
          <p:nvPr/>
        </p:nvSpPr>
        <p:spPr>
          <a:xfrm rot="0">
            <a:off x="9926155" y="5052498"/>
            <a:ext cx="4486542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Backtracking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26155" y="5686292"/>
            <a:ext cx="4486542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Explore combinations of conditions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10057" y="6747481"/>
            <a:ext cx="786403" cy="786432"/>
            <a:chOff x="0" y="0"/>
            <a:chExt cx="1048537" cy="1048576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-4" b="-6"/>
              </a:stretch>
            </a:blipFill>
          </p:spPr>
          <p:txBody>
            <a:bodyPr/>
            <a:p/>
          </p:txBody>
        </p:sp>
      </p:grpSp>
      <p:sp>
        <p:nvSpPr>
          <p:cNvPr name="TextBox 31" id="31"/>
          <p:cNvSpPr txBox="true"/>
          <p:nvPr/>
        </p:nvSpPr>
        <p:spPr>
          <a:xfrm rot="0">
            <a:off x="610057" y="7678836"/>
            <a:ext cx="4486389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Heuristic Search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10057" y="8312629"/>
            <a:ext cx="4486389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Prioritize relevant legal information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5325227" y="6747481"/>
            <a:ext cx="786403" cy="786432"/>
            <a:chOff x="0" y="0"/>
            <a:chExt cx="1048537" cy="1048576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048512"/>
                  </a:lnTo>
                  <a:lnTo>
                    <a:pt x="0" y="104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" t="0" r="-4" b="-6"/>
              </a:stretch>
            </a:blipFill>
          </p:spPr>
          <p:txBody>
            <a:bodyPr/>
            <a:p/>
          </p:txBody>
        </p:sp>
      </p:grpSp>
      <p:sp>
        <p:nvSpPr>
          <p:cNvPr name="TextBox 35" id="35"/>
          <p:cNvSpPr txBox="true"/>
          <p:nvPr/>
        </p:nvSpPr>
        <p:spPr>
          <a:xfrm rot="0">
            <a:off x="5325227" y="7678836"/>
            <a:ext cx="9087469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Forward Chaining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325227" y="8312629"/>
            <a:ext cx="9087469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Generate rule-based recommendations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10057" y="8976779"/>
            <a:ext cx="13802639" cy="95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These techniques support legal research and organization; they do not replace a lawyer’s judgment.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5327792" y="0"/>
            <a:ext cx="2974048" cy="10346731"/>
            <a:chOff x="0" y="0"/>
            <a:chExt cx="3965397" cy="1379564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965448" cy="13795629"/>
            </a:xfrm>
            <a:custGeom>
              <a:avLst/>
              <a:gdLst/>
              <a:ahLst/>
              <a:cxnLst/>
              <a:rect r="r" b="b" t="t" l="l"/>
              <a:pathLst>
                <a:path h="13795629" w="3965448">
                  <a:moveTo>
                    <a:pt x="0" y="0"/>
                  </a:moveTo>
                  <a:lnTo>
                    <a:pt x="3965448" y="0"/>
                  </a:lnTo>
                  <a:lnTo>
                    <a:pt x="3965448" y="13795629"/>
                  </a:lnTo>
                  <a:lnTo>
                    <a:pt x="0" y="13795629"/>
                  </a:lnTo>
                  <a:close/>
                </a:path>
              </a:pathLst>
            </a:custGeom>
            <a:solidFill>
              <a:srgbClr val="F5F8FC"/>
            </a:solidFill>
          </p:spPr>
          <p:txBody>
            <a:bodyPr/>
            <a:p/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556563" y="228781"/>
            <a:ext cx="2516505" cy="9889169"/>
            <a:chOff x="0" y="0"/>
            <a:chExt cx="3355340" cy="13185559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3355340" cy="13185521"/>
            </a:xfrm>
            <a:custGeom>
              <a:avLst/>
              <a:gdLst/>
              <a:ahLst/>
              <a:cxnLst/>
              <a:rect r="r" b="b" t="t" l="l"/>
              <a:pathLst>
                <a:path h="13185521" w="3355340">
                  <a:moveTo>
                    <a:pt x="0" y="0"/>
                  </a:moveTo>
                  <a:lnTo>
                    <a:pt x="3355340" y="0"/>
                  </a:lnTo>
                  <a:lnTo>
                    <a:pt x="3355340" y="13185521"/>
                  </a:lnTo>
                  <a:lnTo>
                    <a:pt x="0" y="131855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6" r="0" b="-26"/>
              </a:stretch>
            </a:blipFill>
          </p:spPr>
          <p:txBody>
            <a:bodyPr/>
            <a:p/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876967" y="478307"/>
            <a:ext cx="16547916" cy="68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NLP + SIMILARITY + ISSUE CLASSIFICATION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888256" y="1837830"/>
            <a:ext cx="2011299" cy="114386"/>
            <a:chOff x="0" y="0"/>
            <a:chExt cx="2681732" cy="1525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81732" cy="152527"/>
            </a:xfrm>
            <a:custGeom>
              <a:avLst/>
              <a:gdLst/>
              <a:ahLst/>
              <a:cxnLst/>
              <a:rect r="r" b="b" t="t" l="l"/>
              <a:pathLst>
                <a:path h="152527" w="2681732">
                  <a:moveTo>
                    <a:pt x="0" y="0"/>
                  </a:moveTo>
                  <a:lnTo>
                    <a:pt x="2681732" y="0"/>
                  </a:lnTo>
                  <a:lnTo>
                    <a:pt x="2681732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4785017" y="1761715"/>
            <a:ext cx="228771" cy="266910"/>
            <a:chOff x="0" y="0"/>
            <a:chExt cx="305029" cy="3558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848363" y="1389955"/>
            <a:ext cx="1010412" cy="1010441"/>
            <a:chOff x="0" y="0"/>
            <a:chExt cx="1347216" cy="13472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73715" y="1694926"/>
            <a:ext cx="1474660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192742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6967" y="2524306"/>
            <a:ext cx="4022588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Legal Question + Facts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128327" y="1837830"/>
            <a:ext cx="3908060" cy="114386"/>
            <a:chOff x="0" y="0"/>
            <a:chExt cx="5210746" cy="1525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10683" cy="152527"/>
            </a:xfrm>
            <a:custGeom>
              <a:avLst/>
              <a:gdLst/>
              <a:ahLst/>
              <a:cxnLst/>
              <a:rect r="r" b="b" t="t" l="l"/>
              <a:pathLst>
                <a:path h="152527" w="5210683">
                  <a:moveTo>
                    <a:pt x="0" y="0"/>
                  </a:moveTo>
                  <a:lnTo>
                    <a:pt x="5210683" y="0"/>
                  </a:lnTo>
                  <a:lnTo>
                    <a:pt x="5210683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8922001" y="1761715"/>
            <a:ext cx="228771" cy="266910"/>
            <a:chOff x="0" y="0"/>
            <a:chExt cx="305029" cy="35587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5099733" y="1389955"/>
            <a:ext cx="1010412" cy="1010441"/>
            <a:chOff x="0" y="0"/>
            <a:chExt cx="1347216" cy="134725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19" id="19"/>
          <p:cNvSpPr txBox="true"/>
          <p:nvPr/>
        </p:nvSpPr>
        <p:spPr>
          <a:xfrm rot="0">
            <a:off x="5306311" y="1694926"/>
            <a:ext cx="1512199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192742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28327" y="2524306"/>
            <a:ext cx="3908203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Text Preprocessing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265310" y="1837830"/>
            <a:ext cx="3965248" cy="114386"/>
            <a:chOff x="0" y="0"/>
            <a:chExt cx="5286997" cy="15251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87010" cy="152527"/>
            </a:xfrm>
            <a:custGeom>
              <a:avLst/>
              <a:gdLst/>
              <a:ahLst/>
              <a:cxnLst/>
              <a:rect r="r" b="b" t="t" l="l"/>
              <a:pathLst>
                <a:path h="152527" w="5287010">
                  <a:moveTo>
                    <a:pt x="0" y="0"/>
                  </a:moveTo>
                  <a:lnTo>
                    <a:pt x="5287010" y="0"/>
                  </a:lnTo>
                  <a:lnTo>
                    <a:pt x="5287010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116173" y="1761715"/>
            <a:ext cx="228771" cy="266910"/>
            <a:chOff x="0" y="0"/>
            <a:chExt cx="305029" cy="3558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9236707" y="1389955"/>
            <a:ext cx="1010412" cy="1010441"/>
            <a:chOff x="0" y="0"/>
            <a:chExt cx="1347216" cy="134725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27" id="27"/>
          <p:cNvSpPr txBox="true"/>
          <p:nvPr/>
        </p:nvSpPr>
        <p:spPr>
          <a:xfrm rot="0">
            <a:off x="9442247" y="1694926"/>
            <a:ext cx="1514427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192742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65310" y="2524306"/>
            <a:ext cx="3965400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Keyword / Entity Extraction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459482" y="1837830"/>
            <a:ext cx="3965248" cy="114386"/>
            <a:chOff x="0" y="0"/>
            <a:chExt cx="5286997" cy="15251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87010" cy="152527"/>
            </a:xfrm>
            <a:custGeom>
              <a:avLst/>
              <a:gdLst/>
              <a:ahLst/>
              <a:cxnLst/>
              <a:rect r="r" b="b" t="t" l="l"/>
              <a:pathLst>
                <a:path h="152527" w="5287010">
                  <a:moveTo>
                    <a:pt x="0" y="0"/>
                  </a:moveTo>
                  <a:lnTo>
                    <a:pt x="5287010" y="0"/>
                  </a:lnTo>
                  <a:lnTo>
                    <a:pt x="5287010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310344" y="1761715"/>
            <a:ext cx="228771" cy="266910"/>
            <a:chOff x="0" y="0"/>
            <a:chExt cx="305029" cy="35587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430879" y="1389955"/>
            <a:ext cx="1010412" cy="1010441"/>
            <a:chOff x="0" y="0"/>
            <a:chExt cx="1347216" cy="13472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35" id="35"/>
          <p:cNvSpPr txBox="true"/>
          <p:nvPr/>
        </p:nvSpPr>
        <p:spPr>
          <a:xfrm rot="0">
            <a:off x="13621969" y="1694926"/>
            <a:ext cx="1543174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192742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459482" y="2524306"/>
            <a:ext cx="3965400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Document Similarity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76967" y="3629777"/>
            <a:ext cx="4022446" cy="114386"/>
            <a:chOff x="0" y="0"/>
            <a:chExt cx="5363261" cy="15251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63210" cy="152527"/>
            </a:xfrm>
            <a:custGeom>
              <a:avLst/>
              <a:gdLst/>
              <a:ahLst/>
              <a:cxnLst/>
              <a:rect r="r" b="b" t="t" l="l"/>
              <a:pathLst>
                <a:path h="152527" w="5363210">
                  <a:moveTo>
                    <a:pt x="0" y="0"/>
                  </a:moveTo>
                  <a:lnTo>
                    <a:pt x="5363210" y="0"/>
                  </a:lnTo>
                  <a:lnTo>
                    <a:pt x="5363210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4785017" y="3553663"/>
            <a:ext cx="228771" cy="266910"/>
            <a:chOff x="0" y="0"/>
            <a:chExt cx="305029" cy="35587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41" id="41"/>
          <p:cNvGrpSpPr/>
          <p:nvPr/>
        </p:nvGrpSpPr>
        <p:grpSpPr>
          <a:xfrm rot="0">
            <a:off x="848363" y="3181902"/>
            <a:ext cx="1010412" cy="1010441"/>
            <a:chOff x="0" y="0"/>
            <a:chExt cx="1347216" cy="134725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47798" y="3486883"/>
            <a:ext cx="1526648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192742"/>
                </a:solidFill>
                <a:latin typeface="Fira Sans"/>
                <a:ea typeface="Fira Sans"/>
                <a:cs typeface="Fira Sans"/>
                <a:sym typeface="Fira Sans"/>
              </a:rPr>
              <a:t>05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76967" y="4316263"/>
            <a:ext cx="4022588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Relevance Score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5128327" y="3629777"/>
            <a:ext cx="3908060" cy="114386"/>
            <a:chOff x="0" y="0"/>
            <a:chExt cx="5210746" cy="15251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10683" cy="152527"/>
            </a:xfrm>
            <a:custGeom>
              <a:avLst/>
              <a:gdLst/>
              <a:ahLst/>
              <a:cxnLst/>
              <a:rect r="r" b="b" t="t" l="l"/>
              <a:pathLst>
                <a:path h="152527" w="5210683">
                  <a:moveTo>
                    <a:pt x="0" y="0"/>
                  </a:moveTo>
                  <a:lnTo>
                    <a:pt x="5210683" y="0"/>
                  </a:lnTo>
                  <a:lnTo>
                    <a:pt x="5210683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47" id="47"/>
          <p:cNvGrpSpPr/>
          <p:nvPr/>
        </p:nvGrpSpPr>
        <p:grpSpPr>
          <a:xfrm rot="0">
            <a:off x="8922001" y="3553663"/>
            <a:ext cx="228771" cy="266910"/>
            <a:chOff x="0" y="0"/>
            <a:chExt cx="305029" cy="35587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49" id="49"/>
          <p:cNvGrpSpPr/>
          <p:nvPr/>
        </p:nvGrpSpPr>
        <p:grpSpPr>
          <a:xfrm rot="0">
            <a:off x="5099733" y="3181902"/>
            <a:ext cx="1010412" cy="1010441"/>
            <a:chOff x="0" y="0"/>
            <a:chExt cx="1347216" cy="134725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51" id="51"/>
          <p:cNvSpPr txBox="true"/>
          <p:nvPr/>
        </p:nvSpPr>
        <p:spPr>
          <a:xfrm rot="0">
            <a:off x="5291118" y="3486883"/>
            <a:ext cx="1542726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192742"/>
                </a:solidFill>
                <a:latin typeface="Fira Sans"/>
                <a:ea typeface="Fira Sans"/>
                <a:cs typeface="Fira Sans"/>
                <a:sym typeface="Fira Sans"/>
              </a:rPr>
              <a:t>06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128327" y="4316263"/>
            <a:ext cx="3908203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Issue Classifier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265310" y="3629777"/>
            <a:ext cx="4079634" cy="114386"/>
            <a:chOff x="0" y="0"/>
            <a:chExt cx="5439512" cy="15251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439537" cy="152527"/>
            </a:xfrm>
            <a:custGeom>
              <a:avLst/>
              <a:gdLst/>
              <a:ahLst/>
              <a:cxnLst/>
              <a:rect r="r" b="b" t="t" l="l"/>
              <a:pathLst>
                <a:path h="152527" w="5439537">
                  <a:moveTo>
                    <a:pt x="0" y="0"/>
                  </a:moveTo>
                  <a:lnTo>
                    <a:pt x="5439537" y="0"/>
                  </a:lnTo>
                  <a:lnTo>
                    <a:pt x="5439537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55" id="55"/>
          <p:cNvGrpSpPr/>
          <p:nvPr/>
        </p:nvGrpSpPr>
        <p:grpSpPr>
          <a:xfrm rot="0">
            <a:off x="9236707" y="3181902"/>
            <a:ext cx="1010412" cy="1010441"/>
            <a:chOff x="0" y="0"/>
            <a:chExt cx="1347216" cy="134725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57" id="57"/>
          <p:cNvSpPr txBox="true"/>
          <p:nvPr/>
        </p:nvSpPr>
        <p:spPr>
          <a:xfrm rot="0">
            <a:off x="9459678" y="3486883"/>
            <a:ext cx="1479575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192742"/>
                </a:solidFill>
                <a:latin typeface="Fira Sans"/>
                <a:ea typeface="Fira Sans"/>
                <a:cs typeface="Fira Sans"/>
                <a:sym typeface="Fira Sans"/>
              </a:rPr>
              <a:t>07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265310" y="4316263"/>
            <a:ext cx="8159572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Relevant Information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876967" y="5054879"/>
            <a:ext cx="5210842" cy="4139470"/>
            <a:chOff x="0" y="0"/>
            <a:chExt cx="6947789" cy="551929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947789" cy="5519293"/>
            </a:xfrm>
            <a:custGeom>
              <a:avLst/>
              <a:gdLst/>
              <a:ahLst/>
              <a:cxnLst/>
              <a:rect r="r" b="b" t="t" l="l"/>
              <a:pathLst>
                <a:path h="5519293" w="6947789">
                  <a:moveTo>
                    <a:pt x="0" y="0"/>
                  </a:moveTo>
                  <a:lnTo>
                    <a:pt x="6947789" y="0"/>
                  </a:lnTo>
                  <a:lnTo>
                    <a:pt x="6947789" y="5519293"/>
                  </a:lnTo>
                  <a:lnTo>
                    <a:pt x="0" y="5519293"/>
                  </a:lnTo>
                  <a:close/>
                </a:path>
              </a:pathLst>
            </a:custGeom>
            <a:solidFill>
              <a:srgbClr val="F5F8FC"/>
            </a:solidFill>
          </p:spPr>
          <p:txBody>
            <a:bodyPr/>
            <a:p/>
          </p:txBody>
        </p:sp>
      </p:grpSp>
      <p:sp>
        <p:nvSpPr>
          <p:cNvPr name="TextBox 61" id="61"/>
          <p:cNvSpPr txBox="true"/>
          <p:nvPr/>
        </p:nvSpPr>
        <p:spPr>
          <a:xfrm rot="0">
            <a:off x="1181995" y="5332819"/>
            <a:ext cx="4600785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NLP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81995" y="6113907"/>
            <a:ext cx="4905813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Extracts names, dates, terms and key facts.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6545351" y="5054879"/>
            <a:ext cx="5210994" cy="4139470"/>
            <a:chOff x="0" y="0"/>
            <a:chExt cx="6947992" cy="551929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948043" cy="5519293"/>
            </a:xfrm>
            <a:custGeom>
              <a:avLst/>
              <a:gdLst/>
              <a:ahLst/>
              <a:cxnLst/>
              <a:rect r="r" b="b" t="t" l="l"/>
              <a:pathLst>
                <a:path h="5519293" w="6948043">
                  <a:moveTo>
                    <a:pt x="0" y="0"/>
                  </a:moveTo>
                  <a:lnTo>
                    <a:pt x="6948043" y="0"/>
                  </a:lnTo>
                  <a:lnTo>
                    <a:pt x="6948043" y="5519293"/>
                  </a:lnTo>
                  <a:lnTo>
                    <a:pt x="0" y="5519293"/>
                  </a:lnTo>
                  <a:close/>
                </a:path>
              </a:pathLst>
            </a:custGeom>
            <a:solidFill>
              <a:srgbClr val="F5F8FC"/>
            </a:solidFill>
          </p:spPr>
          <p:txBody>
            <a:bodyPr/>
            <a:p/>
          </p:txBody>
        </p:sp>
      </p:grpSp>
      <p:sp>
        <p:nvSpPr>
          <p:cNvPr name="TextBox 65" id="65"/>
          <p:cNvSpPr txBox="true"/>
          <p:nvPr/>
        </p:nvSpPr>
        <p:spPr>
          <a:xfrm rot="0">
            <a:off x="6850380" y="5332819"/>
            <a:ext cx="4600927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Text Similarity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850380" y="6113907"/>
            <a:ext cx="4600927" cy="83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Ranks legal documents by how closely they match the query.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2213888" y="5054879"/>
            <a:ext cx="5210994" cy="4139470"/>
            <a:chOff x="0" y="0"/>
            <a:chExt cx="6947992" cy="551929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948043" cy="5519293"/>
            </a:xfrm>
            <a:custGeom>
              <a:avLst/>
              <a:gdLst/>
              <a:ahLst/>
              <a:cxnLst/>
              <a:rect r="r" b="b" t="t" l="l"/>
              <a:pathLst>
                <a:path h="5519293" w="6948043">
                  <a:moveTo>
                    <a:pt x="0" y="0"/>
                  </a:moveTo>
                  <a:lnTo>
                    <a:pt x="6948043" y="0"/>
                  </a:lnTo>
                  <a:lnTo>
                    <a:pt x="6948043" y="5519293"/>
                  </a:lnTo>
                  <a:lnTo>
                    <a:pt x="0" y="5519293"/>
                  </a:lnTo>
                  <a:close/>
                </a:path>
              </a:pathLst>
            </a:custGeom>
            <a:solidFill>
              <a:srgbClr val="F5F8FC"/>
            </a:solidFill>
          </p:spPr>
          <p:txBody>
            <a:bodyPr/>
            <a:p/>
          </p:txBody>
        </p:sp>
      </p:grpSp>
      <p:sp>
        <p:nvSpPr>
          <p:cNvPr name="TextBox 69" id="69"/>
          <p:cNvSpPr txBox="true"/>
          <p:nvPr/>
        </p:nvSpPr>
        <p:spPr>
          <a:xfrm rot="0">
            <a:off x="12518917" y="5332819"/>
            <a:ext cx="4600927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Issue Classification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518917" y="6104382"/>
            <a:ext cx="4600927" cy="289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Uses labelled examples to categorize the legal issue.</a:t>
            </a:r>
          </a:p>
          <a:p>
            <a:r>
              <a:rPr sz="1600">
                <a:solidFill>
                  <a:srgbClr val="192742"/>
                </a:solidFill>
              </a:rPr>
              <a:t>Highlights likely relevant topics.</a:t>
            </a:r>
          </a:p>
          <a:p>
            <a:r>
              <a:rPr sz="1600">
                <a:solidFill>
                  <a:srgbClr val="192742"/>
                </a:solidFill>
              </a:rPr>
              <a:t>Supports further legal research.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876967" y="9409024"/>
            <a:ext cx="17424883" cy="580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Illustrative relevance score: 84% • Human review required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876967" y="783346"/>
            <a:ext cx="16547916" cy="68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RULE CHECKING, BACKTRACKING &amp; SEARCH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6967" y="1723587"/>
            <a:ext cx="8045186" cy="7621638"/>
            <a:chOff x="0" y="0"/>
            <a:chExt cx="10726915" cy="101621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26928" cy="10162159"/>
            </a:xfrm>
            <a:custGeom>
              <a:avLst/>
              <a:gdLst/>
              <a:ahLst/>
              <a:cxnLst/>
              <a:rect r="r" b="b" t="t" l="l"/>
              <a:pathLst>
                <a:path h="10162159" w="10726928">
                  <a:moveTo>
                    <a:pt x="0" y="0"/>
                  </a:moveTo>
                  <a:lnTo>
                    <a:pt x="10726928" y="0"/>
                  </a:lnTo>
                  <a:lnTo>
                    <a:pt x="10726928" y="10162159"/>
                  </a:lnTo>
                  <a:lnTo>
                    <a:pt x="0" y="10162159"/>
                  </a:lnTo>
                  <a:close/>
                </a:path>
              </a:pathLst>
            </a:custGeom>
            <a:solidFill>
              <a:srgbClr val="F5F8FC"/>
            </a:solidFill>
          </p:spPr>
          <p:txBody>
            <a:bodyPr/>
            <a:p/>
          </p:txBody>
        </p:sp>
      </p:grpSp>
      <p:sp>
        <p:nvSpPr>
          <p:cNvPr name="TextBox 7" id="7"/>
          <p:cNvSpPr txBox="true"/>
          <p:nvPr/>
        </p:nvSpPr>
        <p:spPr>
          <a:xfrm rot="0">
            <a:off x="1258252" y="2192169"/>
            <a:ext cx="7282605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Rule-Based Conditions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8252" y="2963742"/>
            <a:ext cx="7282605" cy="2614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Jurisdiction = Identified</a:t>
            </a:r>
          </a:p>
          <a:p>
            <a:r>
              <a:rPr sz="1600">
                <a:solidFill>
                  <a:srgbClr val="192742"/>
                </a:solidFill>
              </a:rPr>
              <a:t>Issue type = Identified</a:t>
            </a:r>
          </a:p>
          <a:p>
            <a:r>
              <a:rPr sz="1600">
                <a:solidFill>
                  <a:srgbClr val="192742"/>
                </a:solidFill>
              </a:rPr>
              <a:t>Key facts = Available</a:t>
            </a:r>
          </a:p>
          <a:p>
            <a:r>
              <a:rPr sz="1600">
                <a:solidFill>
                  <a:srgbClr val="192742"/>
                </a:solidFill>
              </a:rPr>
              <a:t>Relevant documents = Found</a:t>
            </a:r>
          </a:p>
          <a:p>
            <a:r>
              <a:rPr sz="1600">
                <a:solidFill>
                  <a:srgbClr val="192742"/>
                </a:solidFill>
              </a:rPr>
              <a:t>Source verification = Required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8252" y="5702389"/>
            <a:ext cx="7282605" cy="202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Query ↓ Identify facts ↓ Check conditions ↓ Retrieve sources ↓ Summary for review</a:t>
            </a:r>
          </a:p>
          <a:p>
            <a:r>
              <a:rPr sz="1600">
                <a:solidFill>
                  <a:srgbClr val="192742"/>
                </a:solidFill>
              </a:rPr>
              <a:t>Rule checking organizes information and flags missing facts; it does not decide a legal case.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79696" y="1723587"/>
            <a:ext cx="8045186" cy="7621638"/>
            <a:chOff x="0" y="0"/>
            <a:chExt cx="10726915" cy="101621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26928" cy="10162159"/>
            </a:xfrm>
            <a:custGeom>
              <a:avLst/>
              <a:gdLst/>
              <a:ahLst/>
              <a:cxnLst/>
              <a:rect r="r" b="b" t="t" l="l"/>
              <a:pathLst>
                <a:path h="10162159" w="10726928">
                  <a:moveTo>
                    <a:pt x="0" y="0"/>
                  </a:moveTo>
                  <a:lnTo>
                    <a:pt x="10726928" y="0"/>
                  </a:lnTo>
                  <a:lnTo>
                    <a:pt x="10726928" y="10162159"/>
                  </a:lnTo>
                  <a:lnTo>
                    <a:pt x="0" y="10162159"/>
                  </a:lnTo>
                  <a:close/>
                </a:path>
              </a:pathLst>
            </a:custGeom>
            <a:solidFill>
              <a:srgbClr val="F5F8FC"/>
            </a:solidFill>
          </p:spPr>
          <p:txBody>
            <a:bodyPr/>
            <a:p/>
          </p:txBody>
        </p:sp>
      </p:grpSp>
      <p:sp>
        <p:nvSpPr>
          <p:cNvPr name="TextBox 12" id="12"/>
          <p:cNvSpPr txBox="true"/>
          <p:nvPr/>
        </p:nvSpPr>
        <p:spPr>
          <a:xfrm rot="0">
            <a:off x="9760982" y="2192169"/>
            <a:ext cx="7282605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Heuristic Search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60982" y="2963742"/>
            <a:ext cx="7282605" cy="155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Document A → 0.91</a:t>
            </a:r>
          </a:p>
          <a:p>
            <a:r>
              <a:rPr sz="1600">
                <a:solidFill>
                  <a:srgbClr val="192742"/>
                </a:solidFill>
              </a:rPr>
              <a:t>Document B → 0.83</a:t>
            </a:r>
          </a:p>
          <a:p>
            <a:r>
              <a:rPr sz="1600">
                <a:solidFill>
                  <a:srgbClr val="192742"/>
                </a:solidFill>
              </a:rPr>
              <a:t>Document C → 0.76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60982" y="4646962"/>
            <a:ext cx="7663891" cy="50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Relevance can consider factors such as: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60982" y="5274764"/>
            <a:ext cx="7282605" cy="2614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Keyword match</a:t>
            </a:r>
          </a:p>
          <a:p>
            <a:r>
              <a:rPr sz="1600">
                <a:solidFill>
                  <a:srgbClr val="192742"/>
                </a:solidFill>
              </a:rPr>
              <a:t>Context similarity</a:t>
            </a:r>
          </a:p>
          <a:p>
            <a:r>
              <a:rPr sz="1600">
                <a:solidFill>
                  <a:srgbClr val="192742"/>
                </a:solidFill>
              </a:rPr>
              <a:t>Jurisdiction</a:t>
            </a:r>
          </a:p>
          <a:p>
            <a:r>
              <a:rPr sz="1600">
                <a:solidFill>
                  <a:srgbClr val="192742"/>
                </a:solidFill>
              </a:rPr>
              <a:t>Date and authority</a:t>
            </a:r>
          </a:p>
          <a:p>
            <a:r>
              <a:rPr sz="1600">
                <a:solidFill>
                  <a:srgbClr val="192742"/>
                </a:solidFill>
              </a:rPr>
              <a:t>Fact relevance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60982" y="8013411"/>
            <a:ext cx="7282605" cy="95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Heuristic ranking helps users review potentially relevant sources first.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876967" y="783346"/>
            <a:ext cx="16547916" cy="68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KNOWLEDGE-BASED LEGAL RECOMMENDATION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6967" y="1656912"/>
            <a:ext cx="17424883" cy="580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Contract ✓ Property ✓ Jurisdiction ✓ Key Facts ✓ Source Check Required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859662" y="2938377"/>
            <a:ext cx="1982695" cy="114386"/>
            <a:chOff x="0" y="0"/>
            <a:chExt cx="2643594" cy="1525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43632" cy="152527"/>
            </a:xfrm>
            <a:custGeom>
              <a:avLst/>
              <a:gdLst/>
              <a:ahLst/>
              <a:cxnLst/>
              <a:rect r="r" b="b" t="t" l="l"/>
              <a:pathLst>
                <a:path h="152527" w="2643632">
                  <a:moveTo>
                    <a:pt x="0" y="0"/>
                  </a:moveTo>
                  <a:lnTo>
                    <a:pt x="2643632" y="0"/>
                  </a:lnTo>
                  <a:lnTo>
                    <a:pt x="2643632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4727829" y="2862262"/>
            <a:ext cx="228771" cy="266910"/>
            <a:chOff x="0" y="0"/>
            <a:chExt cx="305029" cy="3558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848363" y="2490502"/>
            <a:ext cx="1010412" cy="1010441"/>
            <a:chOff x="0" y="0"/>
            <a:chExt cx="1347216" cy="13472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73715" y="2795483"/>
            <a:ext cx="1474660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192742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967" y="3624863"/>
            <a:ext cx="3965400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FACTS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967" y="4258656"/>
            <a:ext cx="3965400" cy="1225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Legal question</a:t>
            </a:r>
          </a:p>
          <a:p>
            <a:r>
              <a:rPr sz="1600">
                <a:solidFill>
                  <a:srgbClr val="192742"/>
                </a:solidFill>
              </a:rPr>
              <a:t>Jurisdiction</a:t>
            </a:r>
          </a:p>
          <a:p>
            <a:r>
              <a:rPr sz="1600">
                <a:solidFill>
                  <a:srgbClr val="192742"/>
                </a:solidFill>
              </a:rPr>
              <a:t>Dates and events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071139" y="2938377"/>
            <a:ext cx="3965248" cy="114386"/>
            <a:chOff x="0" y="0"/>
            <a:chExt cx="5286997" cy="15251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87010" cy="152527"/>
            </a:xfrm>
            <a:custGeom>
              <a:avLst/>
              <a:gdLst/>
              <a:ahLst/>
              <a:cxnLst/>
              <a:rect r="r" b="b" t="t" l="l"/>
              <a:pathLst>
                <a:path h="152527" w="5287010">
                  <a:moveTo>
                    <a:pt x="0" y="0"/>
                  </a:moveTo>
                  <a:lnTo>
                    <a:pt x="5287010" y="0"/>
                  </a:lnTo>
                  <a:lnTo>
                    <a:pt x="5287010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22001" y="2862262"/>
            <a:ext cx="228771" cy="266910"/>
            <a:chOff x="0" y="0"/>
            <a:chExt cx="305029" cy="3558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19" id="19"/>
          <p:cNvGrpSpPr/>
          <p:nvPr/>
        </p:nvGrpSpPr>
        <p:grpSpPr>
          <a:xfrm rot="0">
            <a:off x="5042535" y="2490502"/>
            <a:ext cx="1010412" cy="1010441"/>
            <a:chOff x="0" y="0"/>
            <a:chExt cx="1347216" cy="134725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21" id="21"/>
          <p:cNvSpPr txBox="true"/>
          <p:nvPr/>
        </p:nvSpPr>
        <p:spPr>
          <a:xfrm rot="0">
            <a:off x="5249123" y="2795483"/>
            <a:ext cx="1512199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192742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71139" y="3624863"/>
            <a:ext cx="3965400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RULE MATCHING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071139" y="4258656"/>
            <a:ext cx="3965400" cy="1225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R1: IF contract issue → Contract-law sources</a:t>
            </a:r>
          </a:p>
          <a:p>
            <a:r>
              <a:rPr sz="1600">
                <a:solidFill>
                  <a:srgbClr val="192742"/>
                </a:solidFill>
              </a:rPr>
              <a:t>R2: IF property issue → Property-law sources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65310" y="2938377"/>
            <a:ext cx="3965248" cy="114386"/>
            <a:chOff x="0" y="0"/>
            <a:chExt cx="5286997" cy="15251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87010" cy="152527"/>
            </a:xfrm>
            <a:custGeom>
              <a:avLst/>
              <a:gdLst/>
              <a:ahLst/>
              <a:cxnLst/>
              <a:rect r="r" b="b" t="t" l="l"/>
              <a:pathLst>
                <a:path h="152527" w="5287010">
                  <a:moveTo>
                    <a:pt x="0" y="0"/>
                  </a:moveTo>
                  <a:lnTo>
                    <a:pt x="5287010" y="0"/>
                  </a:lnTo>
                  <a:lnTo>
                    <a:pt x="5287010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116173" y="2862262"/>
            <a:ext cx="228771" cy="266910"/>
            <a:chOff x="0" y="0"/>
            <a:chExt cx="305029" cy="3558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5054" cy="355854"/>
            </a:xfrm>
            <a:custGeom>
              <a:avLst/>
              <a:gdLst/>
              <a:ahLst/>
              <a:cxnLst/>
              <a:rect r="r" b="b" t="t" l="l"/>
              <a:pathLst>
                <a:path h="355854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355854"/>
                  </a:lnTo>
                  <a:lnTo>
                    <a:pt x="0" y="355854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28" id="28"/>
          <p:cNvGrpSpPr/>
          <p:nvPr/>
        </p:nvGrpSpPr>
        <p:grpSpPr>
          <a:xfrm rot="0">
            <a:off x="9236707" y="2490502"/>
            <a:ext cx="1010412" cy="1010441"/>
            <a:chOff x="0" y="0"/>
            <a:chExt cx="1347216" cy="134725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30" id="30"/>
          <p:cNvSpPr txBox="true"/>
          <p:nvPr/>
        </p:nvSpPr>
        <p:spPr>
          <a:xfrm rot="0">
            <a:off x="9442247" y="2795483"/>
            <a:ext cx="1514427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192742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65310" y="3624863"/>
            <a:ext cx="3965400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FORWARD CHAINING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265310" y="4258656"/>
            <a:ext cx="3965400" cy="1617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R3: IF jurisdiction known → Filter relevant sources</a:t>
            </a:r>
          </a:p>
          <a:p>
            <a:r>
              <a:rPr sz="1600">
                <a:solidFill>
                  <a:srgbClr val="192742"/>
                </a:solidFill>
              </a:rPr>
              <a:t>R4: IF facts missing → Ask follow-up questions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3459482" y="2938377"/>
            <a:ext cx="1982695" cy="114386"/>
            <a:chOff x="0" y="0"/>
            <a:chExt cx="2643594" cy="15251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643632" cy="152527"/>
            </a:xfrm>
            <a:custGeom>
              <a:avLst/>
              <a:gdLst/>
              <a:ahLst/>
              <a:cxnLst/>
              <a:rect r="r" b="b" t="t" l="l"/>
              <a:pathLst>
                <a:path h="152527" w="2643632">
                  <a:moveTo>
                    <a:pt x="0" y="0"/>
                  </a:moveTo>
                  <a:lnTo>
                    <a:pt x="2643632" y="0"/>
                  </a:lnTo>
                  <a:lnTo>
                    <a:pt x="2643632" y="152527"/>
                  </a:lnTo>
                  <a:lnTo>
                    <a:pt x="0" y="152527"/>
                  </a:lnTo>
                  <a:close/>
                </a:path>
              </a:pathLst>
            </a:custGeom>
            <a:solidFill>
              <a:srgbClr val="00978D"/>
            </a:solid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430879" y="2490502"/>
            <a:ext cx="1010412" cy="1010441"/>
            <a:chOff x="0" y="0"/>
            <a:chExt cx="1347216" cy="134725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47216" cy="1347216"/>
            </a:xfrm>
            <a:custGeom>
              <a:avLst/>
              <a:gdLst/>
              <a:ahLst/>
              <a:cxnLst/>
              <a:rect r="r" b="b" t="t" l="l"/>
              <a:pathLst>
                <a:path h="1347216" w="1347216">
                  <a:moveTo>
                    <a:pt x="0" y="673608"/>
                  </a:moveTo>
                  <a:cubicBezTo>
                    <a:pt x="0" y="301625"/>
                    <a:pt x="301625" y="0"/>
                    <a:pt x="673608" y="0"/>
                  </a:cubicBezTo>
                  <a:cubicBezTo>
                    <a:pt x="1045591" y="0"/>
                    <a:pt x="1347216" y="301625"/>
                    <a:pt x="1347216" y="673608"/>
                  </a:cubicBezTo>
                  <a:cubicBezTo>
                    <a:pt x="1347216" y="1045591"/>
                    <a:pt x="1045591" y="1347216"/>
                    <a:pt x="673608" y="1347216"/>
                  </a:cubicBezTo>
                  <a:cubicBezTo>
                    <a:pt x="301625" y="1347216"/>
                    <a:pt x="0" y="1045718"/>
                    <a:pt x="0" y="673608"/>
                  </a:cubicBezTo>
                  <a:close/>
                </a:path>
              </a:pathLst>
            </a:custGeom>
            <a:solidFill>
              <a:srgbClr val="FFFFFF"/>
            </a:solidFill>
            <a:ln w="57193" cap="sq">
              <a:solidFill>
                <a:srgbClr val="00978D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37" id="37"/>
          <p:cNvSpPr txBox="true"/>
          <p:nvPr/>
        </p:nvSpPr>
        <p:spPr>
          <a:xfrm rot="0">
            <a:off x="13621969" y="2795483"/>
            <a:ext cx="1543174" cy="47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4353">
                <a:solidFill>
                  <a:srgbClr val="192742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459482" y="3624863"/>
            <a:ext cx="3965400" cy="45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RECOMMENDATIONS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459482" y="4258656"/>
            <a:ext cx="3965400" cy="83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Relevant legal information</a:t>
            </a:r>
          </a:p>
          <a:p>
            <a:r>
              <a:rPr sz="1600">
                <a:solidFill>
                  <a:srgbClr val="192742"/>
                </a:solidFill>
              </a:rPr>
              <a:t>Questions to clarify facts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76967" y="6219330"/>
            <a:ext cx="3126562" cy="1350931"/>
            <a:chOff x="0" y="0"/>
            <a:chExt cx="4168750" cy="180124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168775" cy="1801241"/>
            </a:xfrm>
            <a:custGeom>
              <a:avLst/>
              <a:gdLst/>
              <a:ahLst/>
              <a:cxnLst/>
              <a:rect r="r" b="b" t="t" l="l"/>
              <a:pathLst>
                <a:path h="1801241" w="4168775">
                  <a:moveTo>
                    <a:pt x="0" y="0"/>
                  </a:moveTo>
                  <a:lnTo>
                    <a:pt x="4168775" y="0"/>
                  </a:lnTo>
                  <a:lnTo>
                    <a:pt x="4168775" y="1801241"/>
                  </a:lnTo>
                  <a:lnTo>
                    <a:pt x="0" y="1801241"/>
                  </a:lnTo>
                  <a:close/>
                </a:path>
              </a:pathLst>
            </a:custGeom>
            <a:solidFill>
              <a:srgbClr val="F5F8FC"/>
            </a:solidFill>
          </p:spPr>
          <p:txBody>
            <a:bodyPr/>
            <a:p/>
          </p:txBody>
        </p:sp>
      </p:grpSp>
      <p:sp>
        <p:nvSpPr>
          <p:cNvPr name="TextBox 42" id="42"/>
          <p:cNvSpPr txBox="true"/>
          <p:nvPr/>
        </p:nvSpPr>
        <p:spPr>
          <a:xfrm rot="0">
            <a:off x="1105738" y="6390951"/>
            <a:ext cx="2897791" cy="50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Contract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4232148" y="6219330"/>
            <a:ext cx="3126715" cy="1350931"/>
            <a:chOff x="0" y="0"/>
            <a:chExt cx="4168953" cy="180124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168902" cy="1801241"/>
            </a:xfrm>
            <a:custGeom>
              <a:avLst/>
              <a:gdLst/>
              <a:ahLst/>
              <a:cxnLst/>
              <a:rect r="r" b="b" t="t" l="l"/>
              <a:pathLst>
                <a:path h="1801241" w="4168902">
                  <a:moveTo>
                    <a:pt x="0" y="0"/>
                  </a:moveTo>
                  <a:lnTo>
                    <a:pt x="4168902" y="0"/>
                  </a:lnTo>
                  <a:lnTo>
                    <a:pt x="4168902" y="1801241"/>
                  </a:lnTo>
                  <a:lnTo>
                    <a:pt x="0" y="1801241"/>
                  </a:lnTo>
                  <a:close/>
                </a:path>
              </a:pathLst>
            </a:custGeom>
            <a:solidFill>
              <a:srgbClr val="F5F8FC"/>
            </a:solidFill>
          </p:spPr>
          <p:txBody>
            <a:bodyPr/>
            <a:p/>
          </p:txBody>
        </p:sp>
      </p:grpSp>
      <p:sp>
        <p:nvSpPr>
          <p:cNvPr name="TextBox 45" id="45"/>
          <p:cNvSpPr txBox="true"/>
          <p:nvPr/>
        </p:nvSpPr>
        <p:spPr>
          <a:xfrm rot="0">
            <a:off x="4460919" y="6390951"/>
            <a:ext cx="2897943" cy="50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Property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7587491" y="6219330"/>
            <a:ext cx="3126715" cy="1350931"/>
            <a:chOff x="0" y="0"/>
            <a:chExt cx="4168953" cy="180124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68902" cy="1801241"/>
            </a:xfrm>
            <a:custGeom>
              <a:avLst/>
              <a:gdLst/>
              <a:ahLst/>
              <a:cxnLst/>
              <a:rect r="r" b="b" t="t" l="l"/>
              <a:pathLst>
                <a:path h="1801241" w="4168902">
                  <a:moveTo>
                    <a:pt x="0" y="0"/>
                  </a:moveTo>
                  <a:lnTo>
                    <a:pt x="4168902" y="0"/>
                  </a:lnTo>
                  <a:lnTo>
                    <a:pt x="4168902" y="1801241"/>
                  </a:lnTo>
                  <a:lnTo>
                    <a:pt x="0" y="1801241"/>
                  </a:lnTo>
                  <a:close/>
                </a:path>
              </a:pathLst>
            </a:custGeom>
            <a:solidFill>
              <a:srgbClr val="F5F8FC"/>
            </a:solidFill>
          </p:spPr>
          <p:txBody>
            <a:bodyPr/>
            <a:p/>
          </p:txBody>
        </p:sp>
      </p:grpSp>
      <p:sp>
        <p:nvSpPr>
          <p:cNvPr name="TextBox 48" id="48"/>
          <p:cNvSpPr txBox="true"/>
          <p:nvPr/>
        </p:nvSpPr>
        <p:spPr>
          <a:xfrm rot="0">
            <a:off x="7816263" y="6390951"/>
            <a:ext cx="2897943" cy="50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Jurisdiction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0942825" y="6219330"/>
            <a:ext cx="3126715" cy="1350931"/>
            <a:chOff x="0" y="0"/>
            <a:chExt cx="4168953" cy="180124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68902" cy="1801241"/>
            </a:xfrm>
            <a:custGeom>
              <a:avLst/>
              <a:gdLst/>
              <a:ahLst/>
              <a:cxnLst/>
              <a:rect r="r" b="b" t="t" l="l"/>
              <a:pathLst>
                <a:path h="1801241" w="4168902">
                  <a:moveTo>
                    <a:pt x="0" y="0"/>
                  </a:moveTo>
                  <a:lnTo>
                    <a:pt x="4168902" y="0"/>
                  </a:lnTo>
                  <a:lnTo>
                    <a:pt x="4168902" y="1801241"/>
                  </a:lnTo>
                  <a:lnTo>
                    <a:pt x="0" y="1801241"/>
                  </a:lnTo>
                  <a:close/>
                </a:path>
              </a:pathLst>
            </a:custGeom>
            <a:solidFill>
              <a:srgbClr val="F5F8FC"/>
            </a:solidFill>
          </p:spPr>
          <p:txBody>
            <a:bodyPr/>
            <a:p/>
          </p:txBody>
        </p:sp>
      </p:grpSp>
      <p:sp>
        <p:nvSpPr>
          <p:cNvPr name="TextBox 51" id="51"/>
          <p:cNvSpPr txBox="true"/>
          <p:nvPr/>
        </p:nvSpPr>
        <p:spPr>
          <a:xfrm rot="0">
            <a:off x="11171596" y="6390951"/>
            <a:ext cx="2897943" cy="50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Clarify Facts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4298168" y="6219330"/>
            <a:ext cx="3126715" cy="1350931"/>
            <a:chOff x="0" y="0"/>
            <a:chExt cx="4168953" cy="180124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168902" cy="1801241"/>
            </a:xfrm>
            <a:custGeom>
              <a:avLst/>
              <a:gdLst/>
              <a:ahLst/>
              <a:cxnLst/>
              <a:rect r="r" b="b" t="t" l="l"/>
              <a:pathLst>
                <a:path h="1801241" w="4168902">
                  <a:moveTo>
                    <a:pt x="0" y="0"/>
                  </a:moveTo>
                  <a:lnTo>
                    <a:pt x="4168902" y="0"/>
                  </a:lnTo>
                  <a:lnTo>
                    <a:pt x="4168902" y="1801241"/>
                  </a:lnTo>
                  <a:lnTo>
                    <a:pt x="0" y="1801241"/>
                  </a:lnTo>
                  <a:close/>
                </a:path>
              </a:pathLst>
            </a:custGeom>
            <a:solidFill>
              <a:srgbClr val="F5F8FC"/>
            </a:solidFill>
          </p:spPr>
          <p:txBody>
            <a:bodyPr/>
            <a:p/>
          </p:txBody>
        </p:sp>
      </p:grpSp>
      <p:sp>
        <p:nvSpPr>
          <p:cNvPr name="TextBox 54" id="54"/>
          <p:cNvSpPr txBox="true"/>
          <p:nvPr/>
        </p:nvSpPr>
        <p:spPr>
          <a:xfrm rot="0">
            <a:off x="14526939" y="6390951"/>
            <a:ext cx="2669172" cy="95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Verify Sources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76967" y="9181128"/>
            <a:ext cx="17424883" cy="50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The system shows which rules were triggered and why information was suggested.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800710" y="516436"/>
            <a:ext cx="16700430" cy="68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DASHBOARD &amp; SAMPLE RESULT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0710" y="1543964"/>
            <a:ext cx="10287190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Legal Query Results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800706" y="2372686"/>
          <a:ext cx="10256913" cy="4632769"/>
        </p:xfrm>
        <a:graphic>
          <a:graphicData uri="http://schemas.openxmlformats.org/drawingml/2006/table">
            <a:tbl>
              <a:tblPr/>
              <a:tblGrid>
                <a:gridCol w="2655463"/>
                <a:gridCol w="1648565"/>
                <a:gridCol w="1648565"/>
                <a:gridCol w="1648565"/>
                <a:gridCol w="2655754"/>
              </a:tblGrid>
              <a:tr h="11628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 spc="148">
                          <a:solidFill>
                            <a:srgbClr val="19274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CANDIDATE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 spc="148">
                          <a:solidFill>
                            <a:srgbClr val="19274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MATCH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 spc="148">
                          <a:solidFill>
                            <a:srgbClr val="19274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SVM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 spc="148">
                          <a:solidFill>
                            <a:srgbClr val="19274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CSP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 spc="148">
                          <a:solidFill>
                            <a:srgbClr val="19274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MISSING SKILLS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28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19274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Rahul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19274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86%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19274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Suitable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19274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Eligible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19274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TensorFlow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28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19274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Priya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19274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82%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19274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Suitable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19274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Eligible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19274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Docker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43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19274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Arun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19274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68%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19274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Review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19274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Not Eligible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2"/>
                        </a:lnSpc>
                        <a:defRPr/>
                      </a:pPr>
                      <a:r>
                        <a:rPr lang="en-US" sz="2476">
                          <a:solidFill>
                            <a:srgbClr val="192742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Python</a:t>
                      </a:r>
                      <a:endParaRPr lang="en-US" sz="1100"/>
                    </a:p>
                  </a:txBody>
                  <a:tcPr marL="157159" marR="157159" marT="157159" marB="157159" anchor="ctr">
                    <a:lnL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2A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800710" y="9448038"/>
            <a:ext cx="10287190" cy="50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Illustrative relevance scores: Document A 86%, Document B 82%, Document C 68%.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45291" y="1931956"/>
            <a:ext cx="4003529" cy="2287791"/>
            <a:chOff x="0" y="0"/>
            <a:chExt cx="5338039" cy="305038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5338064" cy="3050413"/>
            </a:xfrm>
            <a:custGeom>
              <a:avLst/>
              <a:gdLst/>
              <a:ahLst/>
              <a:cxnLst/>
              <a:rect r="r" b="b" t="t" l="l"/>
              <a:pathLst>
                <a:path h="3050413" w="5338064">
                  <a:moveTo>
                    <a:pt x="0" y="0"/>
                  </a:moveTo>
                  <a:lnTo>
                    <a:pt x="5338064" y="0"/>
                  </a:lnTo>
                  <a:lnTo>
                    <a:pt x="5338064" y="3050413"/>
                  </a:lnTo>
                  <a:lnTo>
                    <a:pt x="0" y="3050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0" b="0"/>
              </a:stretch>
            </a:blipFill>
          </p:spPr>
          <p:txBody>
            <a:bodyPr/>
            <a:p/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545291" y="4588240"/>
            <a:ext cx="5955840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Query: Sample Contract Dispute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45291" y="5359813"/>
            <a:ext cx="5955840" cy="411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Issue: Contract dispute</a:t>
            </a:r>
          </a:p>
          <a:p>
            <a:r>
              <a:rPr sz="1600">
                <a:solidFill>
                  <a:srgbClr val="192742"/>
                </a:solidFill>
              </a:rPr>
              <a:t>Key facts: Extracted for review</a:t>
            </a:r>
          </a:p>
          <a:p>
            <a:r>
              <a:rPr sz="1600">
                <a:solidFill>
                  <a:srgbClr val="192742"/>
                </a:solidFill>
              </a:rPr>
              <a:t>Relevant source match: 84%</a:t>
            </a:r>
          </a:p>
          <a:p>
            <a:r>
              <a:rPr sz="1600">
                <a:solidFill>
                  <a:srgbClr val="192742"/>
                </a:solidFill>
              </a:rPr>
              <a:t>Jurisdiction: Needs confirmation</a:t>
            </a:r>
          </a:p>
          <a:p>
            <a:r>
              <a:rPr sz="1600">
                <a:solidFill>
                  <a:srgbClr val="192742"/>
                </a:solidFill>
              </a:rPr>
              <a:t>Retrieved documents: 3</a:t>
            </a:r>
          </a:p>
          <a:p>
            <a:r>
              <a:rPr sz="1600">
                <a:solidFill>
                  <a:srgbClr val="192742"/>
                </a:solidFill>
              </a:rPr>
              <a:t>Missing details: Agreement date</a:t>
            </a:r>
          </a:p>
          <a:p>
            <a:r>
              <a:rPr sz="1600">
                <a:solidFill>
                  <a:srgbClr val="192742"/>
                </a:solidFill>
              </a:rPr>
              <a:t>Next step: Verify sources with a qualified legal professional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915095" y="1012127"/>
            <a:ext cx="10371039" cy="141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AI SYLLABUS MAPPING + ADVANTAGES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5095" y="2738504"/>
            <a:ext cx="10371039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CS23533 SYLLABUS MAPPING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5095" y="3519592"/>
            <a:ext cx="10371039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UNIT I: Intelligent Agents; Problem-Solving Agents; Search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95" y="3912060"/>
            <a:ext cx="10371039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UNIT II: Heuristic Search; Optimization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5095" y="4304528"/>
            <a:ext cx="10371039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UNIT III: CSP; Constraint Propagation; Backtracking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095" y="4696997"/>
            <a:ext cx="10371039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UNIT IV: Knowledge-Based Agents; Forward Chaining; Inference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5095" y="5089474"/>
            <a:ext cx="10371039" cy="4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UNIT V: Machine Learning; NLP; AI Applications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201230" y="0"/>
            <a:ext cx="6100610" cy="10295039"/>
            <a:chOff x="0" y="0"/>
            <a:chExt cx="8134147" cy="137267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34096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5F8FC"/>
            </a:solid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696901" y="571948"/>
            <a:ext cx="5109267" cy="2867482"/>
            <a:chOff x="0" y="0"/>
            <a:chExt cx="6812356" cy="382331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6812407" cy="3823335"/>
            </a:xfrm>
            <a:custGeom>
              <a:avLst/>
              <a:gdLst/>
              <a:ahLst/>
              <a:cxnLst/>
              <a:rect r="r" b="b" t="t" l="l"/>
              <a:pathLst>
                <a:path h="3823335" w="6812407">
                  <a:moveTo>
                    <a:pt x="0" y="0"/>
                  </a:moveTo>
                  <a:lnTo>
                    <a:pt x="6812407" y="0"/>
                  </a:lnTo>
                  <a:lnTo>
                    <a:pt x="6812407" y="3823335"/>
                  </a:lnTo>
                  <a:lnTo>
                    <a:pt x="0" y="3823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9" r="0" b="-18"/>
              </a:stretch>
            </a:blipFill>
          </p:spPr>
          <p:txBody>
            <a:bodyPr/>
            <a:p/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696901" y="4060527"/>
            <a:ext cx="5109267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Advantages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96901" y="4832099"/>
            <a:ext cx="5109267" cy="492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Reduces time spent organizing legal information.</a:t>
            </a:r>
          </a:p>
          <a:p>
            <a:r>
              <a:rPr sz="1600">
                <a:solidFill>
                  <a:srgbClr val="192742"/>
                </a:solidFill>
              </a:rPr>
              <a:t>Combines search, rules and Machine Learning.</a:t>
            </a:r>
          </a:p>
          <a:p>
            <a:r>
              <a:rPr sz="1600">
                <a:solidFill>
                  <a:srgbClr val="192742"/>
                </a:solidFill>
              </a:rPr>
              <a:t>Ranks potentially relevant documents.</a:t>
            </a:r>
          </a:p>
          <a:p>
            <a:r>
              <a:rPr sz="1600">
                <a:solidFill>
                  <a:srgbClr val="192742"/>
                </a:solidFill>
              </a:rPr>
              <a:t>Explains rule-based suggestions.</a:t>
            </a:r>
          </a:p>
          <a:p>
            <a:r>
              <a:rPr sz="1600">
                <a:solidFill>
                  <a:srgbClr val="192742"/>
                </a:solidFill>
              </a:rPr>
              <a:t>Helps compare sources and case facts.</a:t>
            </a:r>
          </a:p>
          <a:p>
            <a:r>
              <a:rPr sz="1600">
                <a:solidFill>
                  <a:srgbClr val="192742"/>
                </a:solidFill>
              </a:rPr>
              <a:t>Supports access to legal information.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5" id="5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  <p:txBody>
            <a:bodyPr/>
            <a:p/>
          </p:txBody>
        </p:sp>
      </p:grpSp>
      <p:sp>
        <p:nvSpPr>
          <p:cNvPr name="TextBox 6" id="6"/>
          <p:cNvSpPr txBox="true"/>
          <p:nvPr/>
        </p:nvSpPr>
        <p:spPr>
          <a:xfrm rot="0">
            <a:off x="1143867" y="897741"/>
            <a:ext cx="16014106" cy="68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CONCLUSION &amp; FUTURE ENHANCEMENTS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867" y="2527592"/>
            <a:ext cx="7625763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867" y="3299165"/>
            <a:ext cx="7625763" cy="285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LegalEase AI combines AI techniques to support legal research:</a:t>
            </a:r>
          </a:p>
          <a:p>
            <a:r>
              <a:rPr sz="1600">
                <a:solidFill>
                  <a:srgbClr val="192742"/>
                </a:solidFill>
              </a:rPr>
              <a:t>NLP + Similarity Matching + Issue Classification + Case Retrieval + Rule Checking + Heuristic Search + Forward Chaining</a:t>
            </a:r>
          </a:p>
          <a:p>
            <a:r>
              <a:rPr sz="1600">
                <a:solidFill>
                  <a:srgbClr val="192742"/>
                </a:solidFill>
              </a:rPr>
              <a:t>It supports: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867" y="6376206"/>
            <a:ext cx="7625763" cy="2614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Legal query analysis</a:t>
            </a:r>
          </a:p>
          <a:p>
            <a:r>
              <a:rPr sz="1600">
                <a:solidFill>
                  <a:srgbClr val="192742"/>
                </a:solidFill>
              </a:rPr>
              <a:t>Document summarization</a:t>
            </a:r>
          </a:p>
          <a:p>
            <a:r>
              <a:rPr sz="1600">
                <a:solidFill>
                  <a:srgbClr val="192742"/>
                </a:solidFill>
              </a:rPr>
              <a:t>Relevant source retrieval</a:t>
            </a:r>
          </a:p>
          <a:p>
            <a:r>
              <a:rPr sz="1600">
                <a:solidFill>
                  <a:srgbClr val="192742"/>
                </a:solidFill>
              </a:rPr>
              <a:t>Basic condition checking</a:t>
            </a:r>
          </a:p>
          <a:p>
            <a:r>
              <a:rPr sz="1600">
                <a:solidFill>
                  <a:srgbClr val="192742"/>
                </a:solidFill>
              </a:rPr>
              <a:t>Explainable recommendations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32210" y="2527592"/>
            <a:ext cx="7625763" cy="56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Future Enhancements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32210" y="3299165"/>
            <a:ext cx="7625763" cy="358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Larger verified legal knowledge base.</a:t>
            </a:r>
          </a:p>
          <a:p>
            <a:r>
              <a:rPr sz="1600">
                <a:solidFill>
                  <a:srgbClr val="192742"/>
                </a:solidFill>
              </a:rPr>
              <a:t>Improved semantic search for legal language.</a:t>
            </a:r>
          </a:p>
          <a:p>
            <a:r>
              <a:rPr sz="1600">
                <a:solidFill>
                  <a:srgbClr val="192742"/>
                </a:solidFill>
              </a:rPr>
              <a:t>Support for multiple Indian languages.</a:t>
            </a:r>
          </a:p>
          <a:p>
            <a:r>
              <a:rPr sz="1600">
                <a:solidFill>
                  <a:srgbClr val="192742"/>
                </a:solidFill>
              </a:rPr>
              <a:t>Updated jurisdiction-specific sources.</a:t>
            </a:r>
          </a:p>
          <a:p>
            <a:r>
              <a:rPr sz="1600">
                <a:solidFill>
                  <a:srgbClr val="192742"/>
                </a:solidFill>
              </a:rPr>
              <a:t>Clear citations and source traceability.</a:t>
            </a:r>
          </a:p>
          <a:p>
            <a:r>
              <a:rPr sz="1600">
                <a:solidFill>
                  <a:srgbClr val="192742"/>
                </a:solidFill>
              </a:rPr>
              <a:t>Secure document handling and privacy controls.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32210" y="7112289"/>
            <a:ext cx="7625763" cy="195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sz="1600">
                <a:solidFill>
                  <a:srgbClr val="192742"/>
                </a:solidFill>
              </a:rPr>
              <a:t>INFORMATIONAL SUPPORT – NOT LEGAL ADVICE</a:t>
            </a:r>
          </a:p>
          <a:p>
            <a:r>
              <a:rPr sz="1600">
                <a:solidFill>
                  <a:srgbClr val="192742"/>
                </a:solidFill>
              </a:rPr>
              <a:t>THANK YOU</a:t>
            </a:r>
          </a:p>
          <a:p>
            <a:r>
              <a:rPr sz="1600">
                <a:solidFill>
                  <a:srgbClr val="192742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DAHXcAiWgRo</dc:identifier>
  <dcterms:modified xsi:type="dcterms:W3CDTF">2011-08-01T06:04:30Z</dcterms:modified>
  <cp:revision>1</cp:revision>
  <dc:title>KARTHICK K (240701231) RAGUL P (240701410) COMPUTER SCEINCE AND ENGINEERING CS23533-FOUNDATION OF ARTIFICIAL INTELLIGENCE</dc:title>
</cp:coreProperties>
</file>